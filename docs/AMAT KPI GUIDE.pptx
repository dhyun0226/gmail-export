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4343E8-5ECA-C624-E7FA-C3F2296753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4FF3B9-F508-135F-3B62-AF9670237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CE092B-0A47-E4E2-C614-D0AAEB8B8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4DFB-CF27-4123-819A-F254F250A21A}" type="datetimeFigureOut">
              <a:rPr lang="ko-KR" altLang="en-US" smtClean="0"/>
              <a:t>2024-11-14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55FF90-4BDD-FBE9-1F8B-7A3F1B549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AE5E88-0A75-F86D-840E-04E16327E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87E0C-952C-4A6D-944E-6B5320009E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093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497020-8871-80DF-966E-00C22E279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1E8615-8E61-8CE4-0A03-63750D35C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672981-C6E8-77BC-0892-496BB25AB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4DFB-CF27-4123-819A-F254F250A21A}" type="datetimeFigureOut">
              <a:rPr lang="ko-KR" altLang="en-US" smtClean="0"/>
              <a:t>2024-11-14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72436F-E207-EAB1-2ECA-A84D0AA13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AACF2B-21AF-F837-C950-DD45A456C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87E0C-952C-4A6D-944E-6B5320009E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207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0028B3-3F10-18E8-0389-5553D3FE4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729E2A-706C-DBAB-B660-1EC959486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D189D5-B6FD-A951-B85F-6389FB3F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4DFB-CF27-4123-819A-F254F250A21A}" type="datetimeFigureOut">
              <a:rPr lang="ko-KR" altLang="en-US" smtClean="0"/>
              <a:t>2024-11-14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C2FA95-38DB-F928-34A9-FE456FE95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2FE00B-7BED-A6EB-EEAB-D2BF16F2C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87E0C-952C-4A6D-944E-6B5320009E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090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7A4A7-1BC9-6246-0262-D89B4B575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DB5D15-BEFF-4E3B-611A-FE69D4954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ABB88A-1A7D-43A6-94B6-5A9B4DC1A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B83C16-AE66-35A1-09D9-07B283989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4DFB-CF27-4123-819A-F254F250A21A}" type="datetimeFigureOut">
              <a:rPr lang="ko-KR" altLang="en-US" smtClean="0"/>
              <a:t>2024-11-14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9790CA-16FE-61FA-8E77-994C5F790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48E036-04F6-8738-BE1C-B9DDBB837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87E0C-952C-4A6D-944E-6B5320009E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517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ED8D47-D231-8EA1-DD6B-2371A9B11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603949-6F2D-2AA1-0661-5A227757A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AF3501-4153-BCA7-C71E-642BEF1F6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9743048-A840-CAB7-FA61-E7C68AF845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053070-F6FF-0136-61DB-25170449A8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96C04BD-E5AE-8681-F38F-9EA65B07F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4DFB-CF27-4123-819A-F254F250A21A}" type="datetimeFigureOut">
              <a:rPr lang="ko-KR" altLang="en-US" smtClean="0"/>
              <a:t>2024-11-14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E20E09-8B24-9450-61E9-43BBE5B62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613B594-ECE4-E268-2D86-DC0390A3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87E0C-952C-4A6D-944E-6B5320009E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4896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6CD708-33E6-744D-6B88-041E31812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7B1D51-44D6-41DA-2FC9-F0F0F543B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4DFB-CF27-4123-819A-F254F250A21A}" type="datetimeFigureOut">
              <a:rPr lang="ko-KR" altLang="en-US" smtClean="0"/>
              <a:t>2024-11-14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0ADDD1-84A7-DEC8-D06C-88537A578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1E74DB-1F1D-995C-AB36-9BFD06FB1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87E0C-952C-4A6D-944E-6B5320009E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086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E4619E4-2B4E-E4AD-104A-017CA6E18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4DFB-CF27-4123-819A-F254F250A21A}" type="datetimeFigureOut">
              <a:rPr lang="ko-KR" altLang="en-US" smtClean="0"/>
              <a:t>2024-11-14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40D7CC9-B2CA-B570-2230-75C7F33C6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211769-0943-CDBC-1702-A62018E06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87E0C-952C-4A6D-944E-6B5320009E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496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FEF702-4200-9853-DBF6-A1E18B535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DEAF7D-9F81-730F-B941-801BF6745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3B912D-EF17-583E-3EEF-618B3BB49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67F4EA-81D3-19B2-8B19-6D977FDD5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4DFB-CF27-4123-819A-F254F250A21A}" type="datetimeFigureOut">
              <a:rPr lang="ko-KR" altLang="en-US" smtClean="0"/>
              <a:t>2024-11-14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66F62D-E1D6-901E-2063-83106F719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5C7475-CC4F-C840-950C-4BECA24ED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87E0C-952C-4A6D-944E-6B5320009E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01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E2FB3C-7D24-306B-9791-E44B37B71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2B9AE2E-C184-A304-B9C2-BEADA70A50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B7CF7A-246A-F999-BF8F-038B9CCBA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576781-04DD-3A22-5840-B1BBAEAAC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4DFB-CF27-4123-819A-F254F250A21A}" type="datetimeFigureOut">
              <a:rPr lang="ko-KR" altLang="en-US" smtClean="0"/>
              <a:t>2024-11-14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267DA7-BDE6-2970-6651-3BBB277E3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45C7C8-A779-1818-BCF3-2FE0B7C38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87E0C-952C-4A6D-944E-6B5320009E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117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9D9F93-B144-BF74-6CF5-47CA66C09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DAC147-ABFE-D2F1-8215-77E54E5E2A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A93366-D0B8-1E7F-953C-28119EAA2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4DFB-CF27-4123-819A-F254F250A21A}" type="datetimeFigureOut">
              <a:rPr lang="ko-KR" altLang="en-US" smtClean="0"/>
              <a:t>2024-11-14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E3A9E9-5B8A-531E-B935-778A647F7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887D2F-44FE-13F0-7A28-7BAD8B87C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87E0C-952C-4A6D-944E-6B5320009E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605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6F3FD1A-9A76-42E2-BC16-1FF945DC5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DA5B95-D93F-45C1-E9BB-257971A86A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D611BC-0A5D-DA11-A7E4-60E43E41A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4DFB-CF27-4123-819A-F254F250A21A}" type="datetimeFigureOut">
              <a:rPr lang="ko-KR" altLang="en-US" smtClean="0"/>
              <a:t>2024-11-14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1BD98F-BBB5-DC91-A870-0B885347B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5800BE-9C5D-C67D-A45A-091E6DA8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87E0C-952C-4A6D-944E-6B5320009E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336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FF97E29-C969-DB9B-4321-B0807763D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BA0AE0-8978-97DB-CDB8-D50A5D60B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8EEF54-D61C-5987-5D3A-3DEC2C30A0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C4DFB-CF27-4123-819A-F254F250A21A}" type="datetimeFigureOut">
              <a:rPr lang="ko-KR" altLang="en-US" smtClean="0"/>
              <a:t>2024-11-14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BCA492-1CFE-CEDB-1E02-8EE8CDBBA0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AF1278-A2E9-4AB0-FF3E-01703E18A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87E0C-952C-4A6D-944E-6B5320009E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710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Eunbyul_Ko@amat.com" TargetMode="External"/><Relationship Id="rId2" Type="http://schemas.openxmlformats.org/officeDocument/2006/relationships/hyperlink" Target="mailto:Yoonsu_Kim@amat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top_amat@topcustom.co.kr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DDC649E-15BE-8894-447F-0436E0AAC842}"/>
              </a:ext>
            </a:extLst>
          </p:cNvPr>
          <p:cNvSpPr txBox="1"/>
          <p:nvPr/>
        </p:nvSpPr>
        <p:spPr>
          <a:xfrm>
            <a:off x="240145" y="138545"/>
            <a:ext cx="2190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KPI</a:t>
            </a:r>
            <a:r>
              <a:rPr lang="ko-KR" altLang="en-US" b="1" dirty="0"/>
              <a:t> 작성 </a:t>
            </a:r>
            <a:r>
              <a:rPr lang="en-US" altLang="ko-KR" b="1" dirty="0"/>
              <a:t>(Applied)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3A1E32-3ABB-CA3D-1A75-AE076DE85DA0}"/>
              </a:ext>
            </a:extLst>
          </p:cNvPr>
          <p:cNvSpPr txBox="1"/>
          <p:nvPr/>
        </p:nvSpPr>
        <p:spPr>
          <a:xfrm>
            <a:off x="406400" y="1126836"/>
            <a:ext cx="8645236" cy="3103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1. </a:t>
            </a:r>
            <a:r>
              <a:rPr lang="ko-KR" altLang="en-US" sz="1200" dirty="0"/>
              <a:t>작성주기 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  : “</a:t>
            </a:r>
            <a:r>
              <a:rPr lang="ko-KR" altLang="en-US" sz="1200" dirty="0"/>
              <a:t>월</a:t>
            </a:r>
            <a:r>
              <a:rPr lang="en-US" altLang="ko-KR" sz="1200" dirty="0"/>
              <a:t>~</a:t>
            </a:r>
            <a:r>
              <a:rPr lang="ko-KR" altLang="en-US" sz="1200" dirty="0"/>
              <a:t>일</a:t>
            </a:r>
            <a:r>
              <a:rPr lang="en-US" altLang="ko-KR" sz="1200" dirty="0"/>
              <a:t>”</a:t>
            </a:r>
            <a:r>
              <a:rPr lang="ko-KR" altLang="en-US" sz="1200" dirty="0"/>
              <a:t>까지 </a:t>
            </a:r>
            <a:r>
              <a:rPr lang="en-US" altLang="ko-KR" sz="1200" dirty="0"/>
              <a:t>1</a:t>
            </a:r>
            <a:r>
              <a:rPr lang="ko-KR" altLang="en-US" sz="1200" dirty="0"/>
              <a:t>주일간 신고 수리된 내역을 취합하여 매주 수요일 발송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2. </a:t>
            </a:r>
            <a:r>
              <a:rPr lang="ko-KR" altLang="en-US" sz="1200" dirty="0"/>
              <a:t>메일발송 </a:t>
            </a:r>
            <a:r>
              <a:rPr lang="en-US" altLang="ko-KR" sz="1200" dirty="0"/>
              <a:t>Group 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   1) </a:t>
            </a:r>
            <a:r>
              <a:rPr lang="ko-KR" altLang="en-US" sz="1200" dirty="0"/>
              <a:t>수신 </a:t>
            </a:r>
            <a:r>
              <a:rPr lang="en-US" altLang="ko-KR" sz="1200" dirty="0"/>
              <a:t>: </a:t>
            </a:r>
            <a:r>
              <a:rPr lang="en-US" altLang="ko-KR" sz="1200" b="0" i="0" dirty="0">
                <a:solidFill>
                  <a:srgbClr val="44444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Yoonsu_Kim@amat.com</a:t>
            </a:r>
            <a:endParaRPr lang="en-US" altLang="ko-KR" sz="1200" b="0" i="0" dirty="0">
              <a:solidFill>
                <a:srgbClr val="444444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2) </a:t>
            </a:r>
            <a:r>
              <a:rPr lang="ko-KR" altLang="en-US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참조 </a:t>
            </a:r>
            <a:r>
              <a:rPr lang="en-US" altLang="ko-KR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0" i="0" dirty="0">
                <a:solidFill>
                  <a:srgbClr val="44444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Eunbyul_Ko@amat.com</a:t>
            </a:r>
            <a:r>
              <a:rPr lang="en-US" altLang="ko-KR" sz="1200" b="0" i="0" dirty="0">
                <a:solidFill>
                  <a:srgbClr val="44444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200" b="0" i="0" dirty="0">
                <a:solidFill>
                  <a:srgbClr val="44444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top_amat@topcustom.co.kr</a:t>
            </a:r>
            <a:endParaRPr lang="en-US" altLang="ko-KR" sz="1200" b="0" i="0" dirty="0">
              <a:solidFill>
                <a:srgbClr val="444444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i="0" dirty="0">
                <a:solidFill>
                  <a:srgbClr val="44444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작성내용 </a:t>
            </a:r>
            <a:endParaRPr lang="en-US" altLang="ko-KR" sz="1200" dirty="0">
              <a:solidFill>
                <a:srgbClr val="4444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i="0" dirty="0">
                <a:solidFill>
                  <a:srgbClr val="44444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ko-KR" altLang="en-US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수입 하선</a:t>
            </a:r>
            <a:r>
              <a:rPr lang="en-US" altLang="ko-KR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하기신고 수리시점부터 </a:t>
            </a:r>
            <a:r>
              <a:rPr lang="en-US" altLang="ko-KR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4.8h </a:t>
            </a:r>
            <a:r>
              <a:rPr lang="ko-KR" altLang="en-US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이내 수입신고가 수리되었는지 </a:t>
            </a:r>
            <a:r>
              <a:rPr lang="en-US" altLang="ko-KR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Tracking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2) </a:t>
            </a:r>
            <a:r>
              <a:rPr lang="ko-KR" altLang="en-US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수출 서류 수신 시점부터 </a:t>
            </a:r>
            <a:r>
              <a:rPr lang="en-US" altLang="ko-KR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1.5h</a:t>
            </a:r>
            <a:r>
              <a:rPr lang="en-US" altLang="ko-KR" sz="1200" b="0" i="0" dirty="0">
                <a:solidFill>
                  <a:srgbClr val="44444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0" i="0" dirty="0">
                <a:solidFill>
                  <a:srgbClr val="44444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이내 수출신고가 수리되었는지 </a:t>
            </a:r>
            <a:r>
              <a:rPr lang="en-US" altLang="ko-KR" sz="1200" b="0" i="0" dirty="0">
                <a:solidFill>
                  <a:srgbClr val="44444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Tracking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특이사항</a:t>
            </a:r>
            <a:endParaRPr lang="en-US" altLang="ko-KR" sz="1200" dirty="0">
              <a:solidFill>
                <a:srgbClr val="4444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: CY</a:t>
            </a:r>
            <a:r>
              <a:rPr lang="ko-KR" altLang="en-US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월</a:t>
            </a:r>
            <a:r>
              <a:rPr lang="en-US" altLang="ko-KR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r>
              <a:rPr lang="ko-KR" altLang="en-US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작성하</a:t>
            </a:r>
            <a:endParaRPr lang="en-US" altLang="ko-KR" sz="1200" dirty="0">
              <a:solidFill>
                <a:srgbClr val="44444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: KPI</a:t>
            </a:r>
            <a:r>
              <a:rPr lang="ko-KR" altLang="en-US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작성은 누적하여 작성하되</a:t>
            </a:r>
            <a:r>
              <a:rPr lang="en-US" altLang="ko-KR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작성한 주만 </a:t>
            </a:r>
            <a:r>
              <a:rPr lang="ko-KR" altLang="en-US" sz="1200" dirty="0" err="1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필터하여</a:t>
            </a:r>
            <a:r>
              <a:rPr lang="ko-KR" altLang="en-US" sz="1200" dirty="0">
                <a:solidFill>
                  <a:srgbClr val="4444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발송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781391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9F5C5-20A5-A842-6BC3-445A1C86A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20050E5-47C6-3C7F-B1C5-983E38F74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2912"/>
            <a:ext cx="12192000" cy="52865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713258-4DF7-D432-30C2-CD8997CD062F}"/>
              </a:ext>
            </a:extLst>
          </p:cNvPr>
          <p:cNvSpPr txBox="1"/>
          <p:nvPr/>
        </p:nvSpPr>
        <p:spPr>
          <a:xfrm>
            <a:off x="240145" y="138545"/>
            <a:ext cx="2369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KPI</a:t>
            </a:r>
            <a:r>
              <a:rPr lang="ko-KR" altLang="en-US" b="1" dirty="0"/>
              <a:t> </a:t>
            </a:r>
            <a:r>
              <a:rPr lang="en-US" altLang="ko-KR" b="1" dirty="0"/>
              <a:t>Summary Sheet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BEEA30-9E5A-30B7-DA51-EA917F4127B6}"/>
              </a:ext>
            </a:extLst>
          </p:cNvPr>
          <p:cNvSpPr txBox="1"/>
          <p:nvPr/>
        </p:nvSpPr>
        <p:spPr>
          <a:xfrm>
            <a:off x="230909" y="812822"/>
            <a:ext cx="864523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/>
              <a:t>수출</a:t>
            </a:r>
            <a:r>
              <a:rPr lang="en-US" altLang="ko-KR" sz="1200" dirty="0"/>
              <a:t>/</a:t>
            </a:r>
            <a:r>
              <a:rPr lang="ko-KR" altLang="en-US" sz="1200" dirty="0"/>
              <a:t>수입 </a:t>
            </a:r>
            <a:r>
              <a:rPr lang="en-US" altLang="ko-KR" sz="1200" dirty="0"/>
              <a:t>KPI </a:t>
            </a:r>
            <a:r>
              <a:rPr lang="ko-KR" altLang="en-US" sz="1200" dirty="0"/>
              <a:t>작성 후 각 피벗파일 </a:t>
            </a:r>
            <a:r>
              <a:rPr lang="ko-KR" altLang="en-US" sz="1200" dirty="0" err="1"/>
              <a:t>새로고침하여</a:t>
            </a:r>
            <a:r>
              <a:rPr lang="ko-KR" altLang="en-US" sz="1200" dirty="0"/>
              <a:t> 신규작성한 내용이 반영하도록 함</a:t>
            </a:r>
            <a:r>
              <a:rPr lang="en-US" altLang="ko-KR" sz="1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32159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BBD74-62DC-2904-1FA2-E37F80BA9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022853-616B-C6FF-FF0C-DE9BB7B23FFB}"/>
              </a:ext>
            </a:extLst>
          </p:cNvPr>
          <p:cNvSpPr txBox="1"/>
          <p:nvPr/>
        </p:nvSpPr>
        <p:spPr>
          <a:xfrm>
            <a:off x="240145" y="138545"/>
            <a:ext cx="1784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KPI</a:t>
            </a:r>
            <a:r>
              <a:rPr lang="ko-KR" altLang="en-US" b="1" dirty="0"/>
              <a:t> 수출 </a:t>
            </a:r>
            <a:r>
              <a:rPr lang="en-US" altLang="ko-KR" b="1" dirty="0"/>
              <a:t>Sheet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E29C93-247C-61E9-EC80-9EF66904939C}"/>
              </a:ext>
            </a:extLst>
          </p:cNvPr>
          <p:cNvSpPr txBox="1"/>
          <p:nvPr/>
        </p:nvSpPr>
        <p:spPr>
          <a:xfrm>
            <a:off x="544944" y="2327586"/>
            <a:ext cx="8645236" cy="4211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A : AMAT FY </a:t>
            </a:r>
            <a:r>
              <a:rPr lang="ko-KR" altLang="en-US" sz="1200" dirty="0"/>
              <a:t>기준 년도 및 주차 기재 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B : AMAT FY </a:t>
            </a:r>
            <a:r>
              <a:rPr lang="ko-KR" altLang="en-US" sz="1200" dirty="0"/>
              <a:t>기준 년도</a:t>
            </a:r>
            <a:r>
              <a:rPr lang="en-US" altLang="ko-KR" sz="1200" dirty="0"/>
              <a:t>, </a:t>
            </a:r>
            <a:r>
              <a:rPr lang="ko-KR" altLang="en-US" sz="1200" dirty="0"/>
              <a:t>분기</a:t>
            </a:r>
            <a:r>
              <a:rPr lang="en-US" altLang="ko-KR" sz="1200" dirty="0"/>
              <a:t>, </a:t>
            </a:r>
            <a:r>
              <a:rPr lang="ko-KR" altLang="en-US" sz="1200" dirty="0"/>
              <a:t>월 기재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C : </a:t>
            </a:r>
            <a:r>
              <a:rPr lang="ko-KR" altLang="en-US" sz="1200" dirty="0"/>
              <a:t>수출신고번호 기재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D : </a:t>
            </a:r>
            <a:r>
              <a:rPr lang="ko-KR" altLang="en-US" sz="1200" dirty="0"/>
              <a:t>통관세관 기재 </a:t>
            </a:r>
            <a:r>
              <a:rPr lang="en-US" altLang="ko-KR" sz="1200" dirty="0"/>
              <a:t>(</a:t>
            </a:r>
            <a:r>
              <a:rPr lang="ko-KR" altLang="en-US" sz="1200" dirty="0"/>
              <a:t>영문</a:t>
            </a:r>
            <a:r>
              <a:rPr lang="en-US" altLang="ko-KR" sz="12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E : </a:t>
            </a:r>
            <a:r>
              <a:rPr lang="ko-KR" altLang="en-US" sz="1200" dirty="0"/>
              <a:t>신고 선별내용 기재 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F : </a:t>
            </a:r>
            <a:r>
              <a:rPr lang="ko-KR" altLang="en-US" sz="1200" dirty="0"/>
              <a:t>신고구분 기재 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G : </a:t>
            </a:r>
            <a:r>
              <a:rPr lang="ko-KR" altLang="en-US" sz="1200" dirty="0"/>
              <a:t>서류수신 일시 기재 </a:t>
            </a:r>
            <a:r>
              <a:rPr lang="en-US" altLang="ko-KR" sz="1200" dirty="0"/>
              <a:t>(* </a:t>
            </a:r>
            <a:r>
              <a:rPr lang="ko-KR" altLang="en-US" sz="1200" dirty="0"/>
              <a:t>서류수신 일시는 수출신고진행자가 신고서상 </a:t>
            </a:r>
            <a:r>
              <a:rPr lang="en-US" altLang="ko-KR" sz="1200" dirty="0"/>
              <a:t>“</a:t>
            </a:r>
            <a:r>
              <a:rPr lang="ko-KR" altLang="en-US" sz="1200" dirty="0"/>
              <a:t>계약번호</a:t>
            </a:r>
            <a:r>
              <a:rPr lang="en-US" altLang="ko-KR" sz="1200" dirty="0"/>
              <a:t>2”</a:t>
            </a:r>
            <a:r>
              <a:rPr lang="ko-KR" altLang="en-US" sz="1200" dirty="0"/>
              <a:t>에 기재하고 있음</a:t>
            </a:r>
            <a:r>
              <a:rPr lang="en-US" altLang="ko-KR" sz="1200" dirty="0"/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H : </a:t>
            </a:r>
            <a:r>
              <a:rPr lang="ko-KR" altLang="en-US" sz="1200" dirty="0"/>
              <a:t>수출신고 수리일시 기재 </a:t>
            </a:r>
            <a:r>
              <a:rPr lang="en-US" altLang="ko-KR" sz="1200" dirty="0"/>
              <a:t>(* </a:t>
            </a:r>
            <a:r>
              <a:rPr lang="ko-KR" altLang="en-US" sz="1200" dirty="0"/>
              <a:t>수출신고내역 출력 시 수리일시를 포함하여 출력해야 함</a:t>
            </a:r>
            <a:r>
              <a:rPr lang="en-US" altLang="ko-KR" sz="1200" dirty="0"/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I : </a:t>
            </a:r>
            <a:r>
              <a:rPr lang="ko-KR" altLang="en-US" sz="1200" dirty="0"/>
              <a:t>수출 </a:t>
            </a:r>
            <a:r>
              <a:rPr lang="en-US" altLang="ko-KR" sz="1200" dirty="0"/>
              <a:t>KPI </a:t>
            </a:r>
            <a:r>
              <a:rPr lang="ko-KR" altLang="en-US" sz="1200" dirty="0"/>
              <a:t>기준시간 기재 </a:t>
            </a:r>
            <a:r>
              <a:rPr lang="en-US" altLang="ko-KR" sz="1200" dirty="0"/>
              <a:t>(* 0.0625 (1.5</a:t>
            </a:r>
            <a:r>
              <a:rPr lang="ko-KR" altLang="en-US" sz="1200" dirty="0"/>
              <a:t>시간</a:t>
            </a:r>
            <a:r>
              <a:rPr lang="en-US" altLang="ko-KR" sz="1200" dirty="0"/>
              <a:t>) </a:t>
            </a:r>
            <a:r>
              <a:rPr lang="ko-KR" altLang="en-US" sz="1200" dirty="0"/>
              <a:t>고정 값</a:t>
            </a:r>
            <a:r>
              <a:rPr lang="en-US" altLang="ko-KR" sz="12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J : </a:t>
            </a:r>
            <a:r>
              <a:rPr lang="ko-KR" altLang="en-US" sz="1200" dirty="0"/>
              <a:t>실제 </a:t>
            </a:r>
            <a:r>
              <a:rPr lang="en-US" altLang="ko-KR" sz="1200" dirty="0"/>
              <a:t>KPI </a:t>
            </a:r>
            <a:r>
              <a:rPr lang="ko-KR" altLang="en-US" sz="1200" dirty="0"/>
              <a:t>이행시간 기재 </a:t>
            </a:r>
            <a:r>
              <a:rPr lang="en-US" altLang="ko-KR" sz="1200" dirty="0"/>
              <a:t>(* H</a:t>
            </a:r>
            <a:r>
              <a:rPr lang="ko-KR" altLang="en-US" sz="1200" dirty="0"/>
              <a:t>에서 </a:t>
            </a:r>
            <a:r>
              <a:rPr lang="en-US" altLang="ko-KR" sz="1200" dirty="0"/>
              <a:t>G</a:t>
            </a:r>
            <a:r>
              <a:rPr lang="ko-KR" altLang="en-US" sz="1200" dirty="0"/>
              <a:t>를 뺀 값</a:t>
            </a:r>
            <a:r>
              <a:rPr lang="en-US" altLang="ko-KR" sz="12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K : KPI</a:t>
            </a:r>
            <a:r>
              <a:rPr lang="ko-KR" altLang="en-US" sz="1200" dirty="0"/>
              <a:t> 기준과 차이 </a:t>
            </a:r>
            <a:r>
              <a:rPr lang="en-US" altLang="ko-KR" sz="1200" dirty="0"/>
              <a:t>(* J</a:t>
            </a:r>
            <a:r>
              <a:rPr lang="ko-KR" altLang="en-US" sz="1200" dirty="0"/>
              <a:t>에서 </a:t>
            </a:r>
            <a:r>
              <a:rPr lang="en-US" altLang="ko-KR" sz="1200" dirty="0"/>
              <a:t>I</a:t>
            </a:r>
            <a:r>
              <a:rPr lang="ko-KR" altLang="en-US" sz="1200" dirty="0"/>
              <a:t>를 뺀 값</a:t>
            </a:r>
            <a:r>
              <a:rPr lang="en-US" altLang="ko-KR" sz="12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L : KPI </a:t>
            </a:r>
            <a:r>
              <a:rPr lang="ko-KR" altLang="en-US" sz="1200" dirty="0" err="1"/>
              <a:t>미준수</a:t>
            </a:r>
            <a:r>
              <a:rPr lang="ko-KR" altLang="en-US" sz="1200" dirty="0"/>
              <a:t> 건 사유 기재 </a:t>
            </a:r>
            <a:r>
              <a:rPr lang="en-US" altLang="ko-KR" sz="1200" dirty="0"/>
              <a:t>(* Cycle time-Exception Code SHEET</a:t>
            </a:r>
            <a:r>
              <a:rPr lang="ko-KR" altLang="en-US" sz="1200" dirty="0"/>
              <a:t>에서 사유 선택</a:t>
            </a:r>
            <a:r>
              <a:rPr lang="en-US" altLang="ko-KR" sz="12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M : Delay</a:t>
            </a:r>
            <a:r>
              <a:rPr lang="ko-KR" altLang="en-US" sz="1200" dirty="0"/>
              <a:t>사유가 통제가능한지 구분 기재 </a:t>
            </a:r>
            <a:r>
              <a:rPr lang="en-US" altLang="ko-KR" sz="1200" dirty="0"/>
              <a:t>(* Cycle time-Exception Code SHEET</a:t>
            </a:r>
            <a:r>
              <a:rPr lang="ko-KR" altLang="en-US" sz="1200" dirty="0"/>
              <a:t>에서 선택한 사유별 구분 값 기재</a:t>
            </a:r>
            <a:r>
              <a:rPr lang="en-US" altLang="ko-KR" sz="12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N : KPI</a:t>
            </a:r>
            <a:r>
              <a:rPr lang="ko-KR" altLang="en-US" sz="1200" dirty="0"/>
              <a:t>시간을 준수한 경우 </a:t>
            </a:r>
            <a:r>
              <a:rPr lang="en-US" altLang="ko-KR" sz="1200" dirty="0"/>
              <a:t>“Y” / KPI</a:t>
            </a:r>
            <a:r>
              <a:rPr lang="ko-KR" altLang="en-US" sz="1200" dirty="0"/>
              <a:t>를 </a:t>
            </a:r>
            <a:r>
              <a:rPr lang="ko-KR" altLang="en-US" sz="1200" dirty="0" err="1"/>
              <a:t>미준수한</a:t>
            </a:r>
            <a:r>
              <a:rPr lang="ko-KR" altLang="en-US" sz="1200" dirty="0"/>
              <a:t> 경우 </a:t>
            </a:r>
            <a:r>
              <a:rPr lang="en-US" altLang="ko-KR" sz="1200" dirty="0"/>
              <a:t>“N”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O : KPI</a:t>
            </a:r>
            <a:r>
              <a:rPr lang="ko-KR" altLang="en-US" sz="1200" dirty="0"/>
              <a:t>시간을 준수한 경우 및 </a:t>
            </a:r>
            <a:r>
              <a:rPr lang="en-US" altLang="ko-KR" sz="1200" dirty="0"/>
              <a:t>KPI</a:t>
            </a:r>
            <a:r>
              <a:rPr lang="ko-KR" altLang="en-US" sz="1200" dirty="0"/>
              <a:t>시간을 </a:t>
            </a:r>
            <a:r>
              <a:rPr lang="ko-KR" altLang="en-US" sz="1200" dirty="0" err="1"/>
              <a:t>미준수하고</a:t>
            </a:r>
            <a:r>
              <a:rPr lang="ko-KR" altLang="en-US" sz="1200" dirty="0"/>
              <a:t> </a:t>
            </a:r>
            <a:r>
              <a:rPr lang="en-US" altLang="ko-KR" sz="1200" dirty="0"/>
              <a:t>Uncontrollable </a:t>
            </a:r>
            <a:r>
              <a:rPr lang="ko-KR" altLang="en-US" sz="1200" dirty="0"/>
              <a:t>인 경우 </a:t>
            </a:r>
            <a:r>
              <a:rPr lang="en-US" altLang="ko-KR" sz="1200" dirty="0"/>
              <a:t>“Y” / KPI</a:t>
            </a:r>
            <a:r>
              <a:rPr lang="ko-KR" altLang="en-US" sz="1200" dirty="0"/>
              <a:t>를 </a:t>
            </a:r>
            <a:r>
              <a:rPr lang="ko-KR" altLang="en-US" sz="1200" dirty="0" err="1"/>
              <a:t>미준수하고</a:t>
            </a:r>
            <a:r>
              <a:rPr lang="ko-KR" altLang="en-US" sz="1200" dirty="0"/>
              <a:t> </a:t>
            </a:r>
            <a:r>
              <a:rPr lang="en-US" altLang="ko-KR" sz="1200" dirty="0"/>
              <a:t>Controllable</a:t>
            </a:r>
            <a:r>
              <a:rPr lang="ko-KR" altLang="en-US" sz="1200" dirty="0"/>
              <a:t>인 경우 </a:t>
            </a:r>
            <a:r>
              <a:rPr lang="en-US" altLang="ko-KR" sz="1200" dirty="0"/>
              <a:t>“N”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65A2EB9-8F5D-D9DF-73DE-56F8C0E88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8552"/>
            <a:ext cx="12192000" cy="117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941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1AACC-C6D9-770C-982D-2BD9EE86B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A3890A-C6B7-58F6-95B2-07EF96EE0FC2}"/>
              </a:ext>
            </a:extLst>
          </p:cNvPr>
          <p:cNvSpPr txBox="1"/>
          <p:nvPr/>
        </p:nvSpPr>
        <p:spPr>
          <a:xfrm>
            <a:off x="240145" y="138545"/>
            <a:ext cx="1784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KPI</a:t>
            </a:r>
            <a:r>
              <a:rPr lang="ko-KR" altLang="en-US" b="1" dirty="0"/>
              <a:t> 수입 </a:t>
            </a:r>
            <a:r>
              <a:rPr lang="en-US" altLang="ko-KR" b="1" dirty="0"/>
              <a:t>Sheet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647D18-6098-13EC-30E2-52A633F5CDD5}"/>
              </a:ext>
            </a:extLst>
          </p:cNvPr>
          <p:cNvSpPr txBox="1"/>
          <p:nvPr/>
        </p:nvSpPr>
        <p:spPr>
          <a:xfrm>
            <a:off x="544944" y="2059735"/>
            <a:ext cx="8645236" cy="4765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A : AMAT FY </a:t>
            </a:r>
            <a:r>
              <a:rPr lang="ko-KR" altLang="en-US" sz="1200" dirty="0"/>
              <a:t>기준 년도 및 주차 기재 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B : AMAT FY </a:t>
            </a:r>
            <a:r>
              <a:rPr lang="ko-KR" altLang="en-US" sz="1200" dirty="0"/>
              <a:t>기준 년도</a:t>
            </a:r>
            <a:r>
              <a:rPr lang="en-US" altLang="ko-KR" sz="1200" dirty="0"/>
              <a:t>, </a:t>
            </a:r>
            <a:r>
              <a:rPr lang="ko-KR" altLang="en-US" sz="1200" dirty="0"/>
              <a:t>분기</a:t>
            </a:r>
            <a:r>
              <a:rPr lang="en-US" altLang="ko-KR" sz="1200" dirty="0"/>
              <a:t>, </a:t>
            </a:r>
            <a:r>
              <a:rPr lang="ko-KR" altLang="en-US" sz="1200" dirty="0"/>
              <a:t>월 기재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C : H.BL</a:t>
            </a:r>
            <a:r>
              <a:rPr lang="ko-KR" altLang="en-US" sz="1200" dirty="0"/>
              <a:t>번호 기재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D : DHL</a:t>
            </a:r>
            <a:r>
              <a:rPr lang="ko-KR" altLang="en-US" sz="1200" dirty="0"/>
              <a:t>건 중 </a:t>
            </a:r>
            <a:r>
              <a:rPr lang="en-US" altLang="ko-KR" sz="1200" dirty="0"/>
              <a:t>KPI </a:t>
            </a:r>
            <a:r>
              <a:rPr lang="ko-KR" altLang="en-US" sz="1200" dirty="0" err="1"/>
              <a:t>미준수</a:t>
            </a:r>
            <a:r>
              <a:rPr lang="ko-KR" altLang="en-US" sz="1200" dirty="0"/>
              <a:t> 건에 한하여 통관서류 메일 수신일시 기재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E : </a:t>
            </a:r>
            <a:r>
              <a:rPr lang="ko-KR" altLang="en-US" sz="1200" dirty="0"/>
              <a:t>하기신고수리 일시 기재 </a:t>
            </a:r>
            <a:r>
              <a:rPr lang="en-US" altLang="ko-KR" sz="1200" dirty="0"/>
              <a:t>(* Cargo Tracker </a:t>
            </a:r>
            <a:r>
              <a:rPr lang="ko-KR" altLang="en-US" sz="1200" dirty="0"/>
              <a:t>활용</a:t>
            </a:r>
            <a:r>
              <a:rPr lang="en-US" altLang="ko-KR" sz="1200" dirty="0"/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F : </a:t>
            </a:r>
            <a:r>
              <a:rPr lang="ko-KR" altLang="en-US" sz="1200" dirty="0"/>
              <a:t>창고 반입 일시 기재 </a:t>
            </a:r>
            <a:r>
              <a:rPr lang="en-US" altLang="ko-KR" sz="1200" dirty="0"/>
              <a:t>(* Cargo Tracker </a:t>
            </a:r>
            <a:r>
              <a:rPr lang="ko-KR" altLang="en-US" sz="1200" dirty="0"/>
              <a:t>활용</a:t>
            </a:r>
            <a:r>
              <a:rPr lang="en-US" altLang="ko-KR" sz="1200" dirty="0"/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G : </a:t>
            </a:r>
            <a:r>
              <a:rPr lang="ko-KR" altLang="en-US" sz="1200" dirty="0"/>
              <a:t>수입신고 일시 기재 </a:t>
            </a:r>
            <a:r>
              <a:rPr lang="en-US" altLang="ko-KR" sz="1200" dirty="0"/>
              <a:t>(* Cargo Tracker </a:t>
            </a:r>
            <a:r>
              <a:rPr lang="ko-KR" altLang="en-US" sz="1200" dirty="0"/>
              <a:t>활용</a:t>
            </a:r>
            <a:r>
              <a:rPr lang="en-US" altLang="ko-KR" sz="1200" dirty="0"/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H : </a:t>
            </a:r>
            <a:r>
              <a:rPr lang="ko-KR" altLang="en-US" sz="1200" dirty="0"/>
              <a:t>수입신고 수리일시 기재 </a:t>
            </a:r>
            <a:r>
              <a:rPr lang="en-US" altLang="ko-KR" sz="1200" dirty="0"/>
              <a:t>(* Cargo Tracker </a:t>
            </a:r>
            <a:r>
              <a:rPr lang="ko-KR" altLang="en-US" sz="1200" dirty="0"/>
              <a:t>활용</a:t>
            </a:r>
            <a:r>
              <a:rPr lang="en-US" altLang="ko-KR" sz="1200" dirty="0"/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I : </a:t>
            </a:r>
            <a:r>
              <a:rPr lang="ko-KR" altLang="en-US" sz="1200" dirty="0"/>
              <a:t>수입 </a:t>
            </a:r>
            <a:r>
              <a:rPr lang="en-US" altLang="ko-KR" sz="1200" dirty="0"/>
              <a:t>KPI </a:t>
            </a:r>
            <a:r>
              <a:rPr lang="ko-KR" altLang="en-US" sz="1200" dirty="0"/>
              <a:t>기준시간 기재 </a:t>
            </a:r>
            <a:r>
              <a:rPr lang="en-US" altLang="ko-KR" sz="1200" dirty="0"/>
              <a:t>(* 0.2 (4.8</a:t>
            </a:r>
            <a:r>
              <a:rPr lang="ko-KR" altLang="en-US" sz="1200" dirty="0"/>
              <a:t>시간</a:t>
            </a:r>
            <a:r>
              <a:rPr lang="en-US" altLang="ko-KR" sz="1200" dirty="0"/>
              <a:t>) </a:t>
            </a:r>
            <a:r>
              <a:rPr lang="ko-KR" altLang="en-US" sz="1200" dirty="0"/>
              <a:t>고정 값</a:t>
            </a:r>
            <a:r>
              <a:rPr lang="en-US" altLang="ko-KR" sz="12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J : </a:t>
            </a:r>
            <a:r>
              <a:rPr lang="ko-KR" altLang="en-US" sz="1200" dirty="0"/>
              <a:t>실제 </a:t>
            </a:r>
            <a:r>
              <a:rPr lang="en-US" altLang="ko-KR" sz="1200" dirty="0"/>
              <a:t>KPI </a:t>
            </a:r>
            <a:r>
              <a:rPr lang="ko-KR" altLang="en-US" sz="1200" dirty="0"/>
              <a:t>이행시간 기재 </a:t>
            </a:r>
            <a:r>
              <a:rPr lang="en-US" altLang="ko-KR" sz="1200" dirty="0"/>
              <a:t>(* H</a:t>
            </a:r>
            <a:r>
              <a:rPr lang="ko-KR" altLang="en-US" sz="1200" dirty="0"/>
              <a:t>에서 </a:t>
            </a:r>
            <a:r>
              <a:rPr lang="en-US" altLang="ko-KR" sz="1200" dirty="0"/>
              <a:t>G</a:t>
            </a:r>
            <a:r>
              <a:rPr lang="ko-KR" altLang="en-US" sz="1200" dirty="0"/>
              <a:t>를 뺀 값</a:t>
            </a:r>
            <a:r>
              <a:rPr lang="en-US" altLang="ko-KR" sz="12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K : KPI</a:t>
            </a:r>
            <a:r>
              <a:rPr lang="ko-KR" altLang="en-US" sz="1200" dirty="0"/>
              <a:t> 기준과 차이 </a:t>
            </a:r>
            <a:r>
              <a:rPr lang="en-US" altLang="ko-KR" sz="1200" dirty="0"/>
              <a:t>(* J</a:t>
            </a:r>
            <a:r>
              <a:rPr lang="ko-KR" altLang="en-US" sz="1200" dirty="0"/>
              <a:t>에서 </a:t>
            </a:r>
            <a:r>
              <a:rPr lang="en-US" altLang="ko-KR" sz="1200" dirty="0"/>
              <a:t>I</a:t>
            </a:r>
            <a:r>
              <a:rPr lang="ko-KR" altLang="en-US" sz="1200" dirty="0"/>
              <a:t>를 뺀 값</a:t>
            </a:r>
            <a:r>
              <a:rPr lang="en-US" altLang="ko-KR" sz="12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L : DHL</a:t>
            </a:r>
            <a:r>
              <a:rPr lang="ko-KR" altLang="en-US" sz="1200" dirty="0"/>
              <a:t>건 중 </a:t>
            </a:r>
            <a:r>
              <a:rPr lang="en-US" altLang="ko-KR" sz="1200" dirty="0"/>
              <a:t>KPI </a:t>
            </a:r>
            <a:r>
              <a:rPr lang="ko-KR" altLang="en-US" sz="1200" dirty="0" err="1"/>
              <a:t>미준수</a:t>
            </a:r>
            <a:r>
              <a:rPr lang="ko-KR" altLang="en-US" sz="1200" dirty="0"/>
              <a:t> 건에 한하여 기재 </a:t>
            </a:r>
            <a:r>
              <a:rPr lang="en-US" altLang="ko-KR" sz="1200" dirty="0"/>
              <a:t>(* H</a:t>
            </a:r>
            <a:r>
              <a:rPr lang="ko-KR" altLang="en-US" sz="1200" dirty="0"/>
              <a:t>에서 </a:t>
            </a:r>
            <a:r>
              <a:rPr lang="en-US" altLang="ko-KR" sz="1200" dirty="0"/>
              <a:t>D</a:t>
            </a:r>
            <a:r>
              <a:rPr lang="ko-KR" altLang="en-US" sz="1200" dirty="0"/>
              <a:t>를 뺀 값</a:t>
            </a:r>
            <a:r>
              <a:rPr lang="en-US" altLang="ko-KR" sz="12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M : DHL</a:t>
            </a:r>
            <a:r>
              <a:rPr lang="ko-KR" altLang="en-US" sz="1200" dirty="0"/>
              <a:t>건 중 </a:t>
            </a:r>
            <a:r>
              <a:rPr lang="en-US" altLang="ko-KR" sz="1200" dirty="0"/>
              <a:t>KPI </a:t>
            </a:r>
            <a:r>
              <a:rPr lang="ko-KR" altLang="en-US" sz="1200" dirty="0" err="1"/>
              <a:t>미준수</a:t>
            </a:r>
            <a:r>
              <a:rPr lang="ko-KR" altLang="en-US" sz="1200" dirty="0"/>
              <a:t> 건에 한하여 기재 </a:t>
            </a:r>
            <a:r>
              <a:rPr lang="en-US" altLang="ko-KR" sz="1200" dirty="0"/>
              <a:t>(* L</a:t>
            </a:r>
            <a:r>
              <a:rPr lang="ko-KR" altLang="en-US" sz="1200" dirty="0"/>
              <a:t>에서 </a:t>
            </a:r>
            <a:r>
              <a:rPr lang="en-US" altLang="ko-KR" sz="1200" dirty="0"/>
              <a:t>I</a:t>
            </a:r>
            <a:r>
              <a:rPr lang="ko-KR" altLang="en-US" sz="1200" dirty="0"/>
              <a:t>를 뺀 값</a:t>
            </a:r>
            <a:r>
              <a:rPr lang="en-US" altLang="ko-KR" sz="12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N : KPI </a:t>
            </a:r>
            <a:r>
              <a:rPr lang="ko-KR" altLang="en-US" sz="1200" dirty="0" err="1"/>
              <a:t>미준수</a:t>
            </a:r>
            <a:r>
              <a:rPr lang="ko-KR" altLang="en-US" sz="1200" dirty="0"/>
              <a:t> 건 사유 기재 </a:t>
            </a:r>
            <a:r>
              <a:rPr lang="en-US" altLang="ko-KR" sz="1200" dirty="0"/>
              <a:t>(* Cycle time-Exception Code SHEET</a:t>
            </a:r>
            <a:r>
              <a:rPr lang="ko-KR" altLang="en-US" sz="1200" dirty="0"/>
              <a:t>에서 사유 선택</a:t>
            </a:r>
            <a:r>
              <a:rPr lang="en-US" altLang="ko-KR" sz="12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O : Delay</a:t>
            </a:r>
            <a:r>
              <a:rPr lang="ko-KR" altLang="en-US" sz="1200" dirty="0"/>
              <a:t>사유가 통제가능한지 구분 기재 </a:t>
            </a:r>
            <a:r>
              <a:rPr lang="en-US" altLang="ko-KR" sz="1200" dirty="0"/>
              <a:t>(* Cycle time-Exception Code SHEET</a:t>
            </a:r>
            <a:r>
              <a:rPr lang="ko-KR" altLang="en-US" sz="1200" dirty="0"/>
              <a:t>에서 선택한 사유별 구분 값 기재</a:t>
            </a:r>
            <a:r>
              <a:rPr lang="en-US" altLang="ko-KR" sz="12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P : KPI</a:t>
            </a:r>
            <a:r>
              <a:rPr lang="ko-KR" altLang="en-US" sz="1200" dirty="0"/>
              <a:t>시간을 준수한 경우 </a:t>
            </a:r>
            <a:r>
              <a:rPr lang="en-US" altLang="ko-KR" sz="1200" dirty="0"/>
              <a:t>“Y” / KPI</a:t>
            </a:r>
            <a:r>
              <a:rPr lang="ko-KR" altLang="en-US" sz="1200" dirty="0"/>
              <a:t>를 </a:t>
            </a:r>
            <a:r>
              <a:rPr lang="ko-KR" altLang="en-US" sz="1200" dirty="0" err="1"/>
              <a:t>미준수한</a:t>
            </a:r>
            <a:r>
              <a:rPr lang="ko-KR" altLang="en-US" sz="1200" dirty="0"/>
              <a:t> 경우 </a:t>
            </a:r>
            <a:r>
              <a:rPr lang="en-US" altLang="ko-KR" sz="1200" dirty="0"/>
              <a:t>“N”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Q : KPI</a:t>
            </a:r>
            <a:r>
              <a:rPr lang="ko-KR" altLang="en-US" sz="1200" dirty="0"/>
              <a:t>시간을 준수한 경우 및 </a:t>
            </a:r>
            <a:r>
              <a:rPr lang="en-US" altLang="ko-KR" sz="1200" dirty="0"/>
              <a:t>KPI</a:t>
            </a:r>
            <a:r>
              <a:rPr lang="ko-KR" altLang="en-US" sz="1200" dirty="0"/>
              <a:t>시간을 </a:t>
            </a:r>
            <a:r>
              <a:rPr lang="ko-KR" altLang="en-US" sz="1200" dirty="0" err="1"/>
              <a:t>미준수하고</a:t>
            </a:r>
            <a:r>
              <a:rPr lang="ko-KR" altLang="en-US" sz="1200" dirty="0"/>
              <a:t> </a:t>
            </a:r>
            <a:r>
              <a:rPr lang="en-US" altLang="ko-KR" sz="1200" dirty="0"/>
              <a:t>Uncontrollable </a:t>
            </a:r>
            <a:r>
              <a:rPr lang="ko-KR" altLang="en-US" sz="1200" dirty="0"/>
              <a:t>인 경우 </a:t>
            </a:r>
            <a:r>
              <a:rPr lang="en-US" altLang="ko-KR" sz="1200" dirty="0"/>
              <a:t>“Y” / KPI</a:t>
            </a:r>
            <a:r>
              <a:rPr lang="ko-KR" altLang="en-US" sz="1200" dirty="0"/>
              <a:t>를 </a:t>
            </a:r>
            <a:r>
              <a:rPr lang="ko-KR" altLang="en-US" sz="1200" dirty="0" err="1"/>
              <a:t>미준수하고</a:t>
            </a:r>
            <a:r>
              <a:rPr lang="ko-KR" altLang="en-US" sz="1200" dirty="0"/>
              <a:t> </a:t>
            </a:r>
            <a:r>
              <a:rPr lang="en-US" altLang="ko-KR" sz="1200" dirty="0"/>
              <a:t>Controllable</a:t>
            </a:r>
            <a:r>
              <a:rPr lang="ko-KR" altLang="en-US" sz="1200" dirty="0"/>
              <a:t>인 경우 </a:t>
            </a:r>
            <a:r>
              <a:rPr lang="en-US" altLang="ko-KR" sz="1200" dirty="0"/>
              <a:t>“N”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FCE6A57-7478-505D-0EA3-7268A7EEA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1929"/>
            <a:ext cx="12192000" cy="93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612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</Words>
  <Application>Microsoft Office PowerPoint</Application>
  <PresentationFormat>와이드스크린</PresentationFormat>
  <Paragraphs>48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성표 김</dc:creator>
  <cp:lastModifiedBy>성표 김</cp:lastModifiedBy>
  <cp:revision>1</cp:revision>
  <dcterms:created xsi:type="dcterms:W3CDTF">2024-11-14T05:10:34Z</dcterms:created>
  <dcterms:modified xsi:type="dcterms:W3CDTF">2024-11-14T05:10:34Z</dcterms:modified>
</cp:coreProperties>
</file>